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project, course, team members, and the idea of an end-to-end AI marketing intelligence system for CMO decision-making.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explain the business problem in simple terms, then position the system as a practical CMO decision-support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describe why transaction data and sentiment data are useful together: one shows behavior, the other shows perception.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emphasize that data cleaning is not just technical housekeeping; it determines whether later business insights are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walk through four visuals quickly and connect each one to a marketing action: budget timing, country focus, VIP retention, anomaly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explain that segmentation translates raw behavior into marketing language and actions. Mention PCA only as visualization, not as the clustering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explain churn prediction as an early-warning system. Highlight that the model does not just describe customers; it recommends intervention before revenue is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explain collaborative filtering in one sentence: customers with similar behavior are likely to like similar products. Tie it to AOV and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show that sentiment analysis adds the external voice of customers, while the retail data shows internal purchasing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explain dashboard structure as a CMO journey: overview, diagnostics, prediction, action, governance and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focus on demonstrating that the Power BI dashboard is not static; it is interactive and decision-oriented.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 or 2: show maturity by explaining that AI marketing is not only about profit; privacy, fairness and transparency are part of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summarize insights in business language, not technical language. Each insight should end with a concrete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present this as the final strategy. Connect every recommendation to one module of the system: EDA, segmentation, churn, recommendations and sentiment.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thank the audience, mention the GitHub repository once the final URL is added,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Marketing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System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621792" y="2724912"/>
            <a:ext cx="1188720" cy="5486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D7FF"/>
                </a:solidFill>
              </a:rPr>
              <a:t>Final Exam Project — AI for Marketing Decisions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" y="36941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4FB"/>
                </a:solidFill>
              </a:rPr>
              <a:t>Tair Asset &amp; Alinur Sabit  |  Group AIB-2401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1792" y="40599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Astana IT University  |  School of Creative Industries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4407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May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58200" y="1417320"/>
            <a:ext cx="2560320" cy="2560320"/>
          </a:xfrm>
          <a:prstGeom prst="roundRect">
            <a:avLst>
              <a:gd name="adj" fmla="val 6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AED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D7FF"/>
                </a:solidFill>
              </a:rPr>
              <a:t>CMO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78D7FF"/>
                </a:solidFill>
              </a:rPr>
              <a:t>DASHBOARD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9244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B"/>
                </a:solidFill>
              </a:rPr>
              <a:t>AI + Transactions + Sentiment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BUSINESS PITCH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Pitch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From scattered customer data to decisions in under 60 seconds.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4864" cy="2240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295144"/>
            <a:ext cx="3200400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Companies waste marketing budgets because they do not clearly understand who their customers are, what they will do next, or what they want.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828800"/>
            <a:ext cx="54864" cy="22402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44568" y="2295144"/>
            <a:ext cx="3200400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An end-to-end AI system that segments customers, predicts churn, recommends products, and analyzes brand sentiment using real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28800"/>
            <a:ext cx="54864" cy="224028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47888" y="2295144"/>
            <a:ext cx="3200400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A CMO can make data-driven marketing decisions through an interactive Power BI dashboard in under 60 seconds.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417320" y="46634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27048" y="48006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554480" y="5239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AI modules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6634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48006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C66"/>
                </a:solidFill>
              </a:rPr>
              <a:t>60 sec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212080" y="5239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decision window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732520" y="46634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42248" y="48006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D17A"/>
                </a:solidFill>
              </a:rPr>
              <a:t>3.5×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869680" y="52395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expected ROI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DATA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Two complementary datasets: customer transactions + public brand sentiment.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8288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541,909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71800" y="169164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18288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4,372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108960" y="2267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customers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169164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8288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38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349240" y="2267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countries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52360" y="169164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8288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74k+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89520" y="2267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tweets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92640" y="169164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182880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2010–11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29800" y="2267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retail period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0632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063240"/>
            <a:ext cx="54864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21868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Online Retail Transactions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3529584"/>
            <a:ext cx="50749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Customer purchases, invoices, StockCode, quantity, price, country and date. Used for segmentation, churn prediction and recommendations.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30632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063240"/>
            <a:ext cx="54864" cy="13258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21868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Twitter Entity Sentiment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56248" y="3529584"/>
            <a:ext cx="50749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Brand-related tweets across entities. Used for text cleaning, sentiment classification and brand risk monitoring.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4892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1732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4FB"/>
                </a:solidFill>
              </a:rPr>
              <a:t>Python  •  Pandas  •  NumPy  •  Matplotlib  •  Seaborn  •  Scikit-learn  •  XGBoost  •  TextBlob  •  NLTK  •  Power BI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55321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8D7FF"/>
                </a:solidFill>
              </a:rPr>
              <a:t>Data loaded via KaggleHub API — fully reproducible pipeline.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DATA PREPARATION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1: Data Cleaning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Raw retail records were converted into a Power BI-ready analytics dataset.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85623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8308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B"/>
                </a:solidFill>
              </a:rPr>
              <a:t>Removed 5,268 duplicate rows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85800" y="226771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9456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B"/>
                </a:solidFill>
              </a:rPr>
              <a:t>Dropped 135,080 rows with missing CustomerID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85800" y="267919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60604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B"/>
                </a:solidFill>
              </a:rPr>
              <a:t>Imputed missing Description as “Unknown Product”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85800" y="309067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01752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B"/>
                </a:solidFill>
              </a:rPr>
              <a:t>Standardized datetime and string data types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85800" y="350215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42900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B"/>
                </a:solidFill>
              </a:rPr>
              <a:t>Filtered cancellations and invalid records: Quantity ≤ 0, UnitPrice ≤ 0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85800" y="391363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84048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B"/>
                </a:solidFill>
              </a:rPr>
              <a:t>Engineered CLV, AOV, Purchase Frequency, Recency, Tenure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446520" y="1828800"/>
            <a:ext cx="489204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828800"/>
            <a:ext cx="54864" cy="105156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1984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47688" y="2295144"/>
            <a:ext cx="45720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Final clean dataset: 50,000 transactions exported to CSV for Power BI.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3246120"/>
            <a:ext cx="4892040" cy="1874520"/>
          </a:xfrm>
          <a:prstGeom prst="roundRect">
            <a:avLst>
              <a:gd name="adj" fmla="val 63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35584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Pipeline view: Raw Data → Cleaning → Features → CSV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675120" y="4480560"/>
            <a:ext cx="389763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83780" y="4087368"/>
            <a:ext cx="389763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4361688"/>
            <a:ext cx="389763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01100" y="3813048"/>
            <a:ext cx="389763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0" y="4178808"/>
            <a:ext cx="389763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18420" y="3538728"/>
            <a:ext cx="389763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5321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D7FF"/>
                </a:solidFill>
              </a:rPr>
              <a:t>Quality principle: no dashboards or ML models before reliable customer-level features.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EDA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2: Exploratory Data Analysis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EDA identified seasonality, market concentration, VIP customers and anomaly risk.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1627632"/>
            <a:ext cx="361188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7373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Monthly Revenue Trend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86968" y="2880360"/>
            <a:ext cx="411480" cy="-155448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8448" y="2724912"/>
            <a:ext cx="502920" cy="-18288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1368" y="2542032"/>
            <a:ext cx="457200" cy="-27432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2267712"/>
            <a:ext cx="594360" cy="32004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587752"/>
            <a:ext cx="594360" cy="-100584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7288" y="1581912"/>
            <a:ext cx="502920" cy="114300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" y="284378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1872" y="2688336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64792" y="2505456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1992" y="2231136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6352" y="2551176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0712" y="1545336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3632" y="2688336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627632"/>
            <a:ext cx="324612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7373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Correlation Heatmap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709160" y="2084832"/>
            <a:ext cx="173736" cy="173736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01184" y="2084832"/>
            <a:ext cx="173736" cy="173736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93208" y="2084832"/>
            <a:ext cx="173736" cy="173736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5232" y="2084832"/>
            <a:ext cx="173736" cy="173736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77256" y="2084832"/>
            <a:ext cx="173736" cy="173736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276856"/>
            <a:ext cx="173736" cy="173736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2276856"/>
            <a:ext cx="173736" cy="173736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2276856"/>
            <a:ext cx="173736" cy="173736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85232" y="2276856"/>
            <a:ext cx="173736" cy="173736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77256" y="2276856"/>
            <a:ext cx="173736" cy="173736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468880"/>
            <a:ext cx="173736" cy="173736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01184" y="2468880"/>
            <a:ext cx="173736" cy="173736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93208" y="2468880"/>
            <a:ext cx="173736" cy="173736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5232" y="2468880"/>
            <a:ext cx="173736" cy="173736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7256" y="2468880"/>
            <a:ext cx="173736" cy="173736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660904"/>
            <a:ext cx="173736" cy="173736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01184" y="2660904"/>
            <a:ext cx="173736" cy="173736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93208" y="2660904"/>
            <a:ext cx="173736" cy="173736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85232" y="2660904"/>
            <a:ext cx="173736" cy="173736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77256" y="2660904"/>
            <a:ext cx="173736" cy="173736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2852928"/>
            <a:ext cx="173736" cy="173736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01184" y="2852928"/>
            <a:ext cx="173736" cy="173736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93208" y="2852928"/>
            <a:ext cx="173736" cy="173736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85232" y="2852928"/>
            <a:ext cx="173736" cy="173736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77256" y="2852928"/>
            <a:ext cx="173736" cy="173736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36992" y="1627632"/>
            <a:ext cx="361188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74152" y="17373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Geographic Distribution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8165592" y="23362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4FB"/>
                </a:solidFill>
              </a:rPr>
              <a:t>UK  •  DE  •  FR  •  EIRE  •  38 countries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3657600"/>
            <a:ext cx="361188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" y="37673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VIP / Fraud Scatter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1042777" y="4381500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44306" y="4572000"/>
            <a:ext cx="82296" cy="82296"/>
          </a:xfrm>
          <a:prstGeom prst="ellipse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86141" y="4286250"/>
            <a:ext cx="82296" cy="82296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27975" y="4724400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50422" y="4419600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2868" y="4552950"/>
            <a:ext cx="82296" cy="82296"/>
          </a:xfrm>
          <a:prstGeom prst="ellipse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95314" y="4305300"/>
            <a:ext cx="82296" cy="82296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78984" y="4686300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20819" y="4457700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3265" y="4248150"/>
            <a:ext cx="82296" cy="82296"/>
          </a:xfrm>
          <a:prstGeom prst="ellipse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26280" y="3657600"/>
            <a:ext cx="7022592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26280" y="3657600"/>
            <a:ext cx="54864" cy="160020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27448" y="3813048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727448" y="4123944"/>
            <a:ext cx="6702552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November is the peak revenue month. The UK dominates revenue, while Germany, France and EIRE lead internationally. The top 5% VIP customers generate a major revenue share. Purchase frequency strongly correlates with CLV (r &gt; 0.8). Z-score outlier detection flagged accounts requiring fraud-risk review.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SEGMENTATION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3: Customer Segmentation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K-Means converted customer behavior into four actionable marketing groups.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1664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D7FF"/>
                </a:solidFill>
              </a:rPr>
              <a:t>Objective:  J = Σᵢ Σₓ ‖x − μᵢ‖²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240280"/>
            <a:ext cx="3429000" cy="1481328"/>
          </a:xfrm>
          <a:prstGeom prst="roundRect">
            <a:avLst>
              <a:gd name="adj" fmla="val 802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3500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Elbow + Silhouette: optimal k = 4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86968" y="3374136"/>
            <a:ext cx="411480" cy="-155448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8448" y="3218688"/>
            <a:ext cx="502920" cy="-18288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01368" y="3035808"/>
            <a:ext cx="457200" cy="-27432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8568" y="2761488"/>
            <a:ext cx="594360" cy="32004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52928" y="3081528"/>
            <a:ext cx="594360" cy="-100584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288" y="2075688"/>
            <a:ext cx="320040" cy="114300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337560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872" y="318211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64792" y="299923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1992" y="272491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6352" y="304495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203911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752" y="318211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2240280"/>
            <a:ext cx="3429000" cy="1481328"/>
          </a:xfrm>
          <a:prstGeom prst="roundRect">
            <a:avLst>
              <a:gd name="adj" fmla="val 802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3128" y="23500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PCA 2D visualization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688345" y="291795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7843" y="3075432"/>
            <a:ext cx="82296" cy="82296"/>
          </a:xfrm>
          <a:prstGeom prst="ellipse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5240" y="2839212"/>
            <a:ext cx="82296" cy="82296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32636" y="320141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35832" y="2949448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39028" y="3059684"/>
            <a:ext cx="82296" cy="82296"/>
          </a:xfrm>
          <a:prstGeom prst="ellipse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2224" y="2854960"/>
            <a:ext cx="82296" cy="82296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7017" y="3169920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24414" y="2980944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7610" y="2807716"/>
            <a:ext cx="82296" cy="82296"/>
          </a:xfrm>
          <a:prstGeom prst="ellipse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73568" y="2240280"/>
            <a:ext cx="3429000" cy="1481328"/>
          </a:xfrm>
          <a:prstGeom prst="roundRect">
            <a:avLst>
              <a:gd name="adj" fmla="val 802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23500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Revenue by segment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8202168" y="3081528"/>
            <a:ext cx="255651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66988" y="2688336"/>
            <a:ext cx="255651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31808" y="2962656"/>
            <a:ext cx="255651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96628" y="2414016"/>
            <a:ext cx="255651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61448" y="2779776"/>
            <a:ext cx="255651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26268" y="2139696"/>
            <a:ext cx="255651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42519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" y="4251960"/>
            <a:ext cx="54864" cy="109728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9536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High-Value Loyalists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9536" y="4718304"/>
            <a:ext cx="2377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High CLV, frequent, recent → VIP programme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538728" y="42519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38728" y="4251960"/>
            <a:ext cx="54864" cy="10972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39896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Potential Loyalists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739896" y="4718304"/>
            <a:ext cx="2377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Mid CLV, moderate frequency → loyalty rewards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19088" y="42519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19088" y="4251960"/>
            <a:ext cx="54864" cy="1097280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0256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At-Risk Customers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620256" y="4718304"/>
            <a:ext cx="2377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Declining frequency → win-back campaigns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299448" y="4251960"/>
            <a:ext cx="2084832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99448" y="4251960"/>
            <a:ext cx="54864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00616" y="440740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Lost / Inactive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500616" y="4718304"/>
            <a:ext cx="17647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Low CLV, not recent → last-chance offers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PREDICTIVE ANALYTICS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4: Predictive Churn Model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Business question: Which customers may stop buying in the next 90 days?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700784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700784"/>
            <a:ext cx="54864" cy="1143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85623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definition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167128"/>
            <a:ext cx="480060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Churn = 1 if DaysSinceLastPurchase &gt; 90. Customers above ChurnProbability &gt; 0.7 trigger automatic win-back campaigns.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8D7FF"/>
                </a:solidFill>
              </a:rPr>
              <a:t>P(Y=1) = 1 / (1 + e^−(β₀ + β₁x))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3429000" cy="1508760"/>
          </a:xfrm>
          <a:prstGeom prst="roundRect">
            <a:avLst>
              <a:gd name="adj" fmla="val 78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644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Model comparison: LR / RF / XGBoost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914400" y="4023360"/>
            <a:ext cx="255651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9220" y="3630168"/>
            <a:ext cx="255651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4040" y="3904488"/>
            <a:ext cx="255651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08860" y="3355848"/>
            <a:ext cx="255651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73680" y="3721608"/>
            <a:ext cx="255651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8500" y="3081528"/>
            <a:ext cx="255651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3154680"/>
            <a:ext cx="2971800" cy="1508760"/>
          </a:xfrm>
          <a:prstGeom prst="roundRect">
            <a:avLst>
              <a:gd name="adj" fmla="val 78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2644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Confusion matrix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636008" y="3611880"/>
            <a:ext cx="155448" cy="155448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3611880"/>
            <a:ext cx="155448" cy="155448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611880"/>
            <a:ext cx="155448" cy="155448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7216" y="3611880"/>
            <a:ext cx="155448" cy="155448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30952" y="3611880"/>
            <a:ext cx="155448" cy="155448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008" y="3785616"/>
            <a:ext cx="155448" cy="155448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9744" y="3785616"/>
            <a:ext cx="155448" cy="155448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785616"/>
            <a:ext cx="155448" cy="155448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7216" y="3785616"/>
            <a:ext cx="155448" cy="155448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30952" y="3785616"/>
            <a:ext cx="155448" cy="155448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6008" y="3959352"/>
            <a:ext cx="155448" cy="155448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9744" y="3959352"/>
            <a:ext cx="155448" cy="155448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3959352"/>
            <a:ext cx="155448" cy="155448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57216" y="3959352"/>
            <a:ext cx="155448" cy="155448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30952" y="3959352"/>
            <a:ext cx="155448" cy="155448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4133088"/>
            <a:ext cx="155448" cy="155448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9744" y="4133088"/>
            <a:ext cx="155448" cy="155448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4133088"/>
            <a:ext cx="155448" cy="155448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57216" y="4133088"/>
            <a:ext cx="155448" cy="155448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30952" y="4133088"/>
            <a:ext cx="155448" cy="155448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36008" y="4306824"/>
            <a:ext cx="155448" cy="155448"/>
          </a:xfrm>
          <a:prstGeom prst="rect">
            <a:avLst/>
          </a:prstGeom>
          <a:solidFill>
            <a:srgbClr val="78D7FF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9744" y="4306824"/>
            <a:ext cx="155448" cy="155448"/>
          </a:xfrm>
          <a:prstGeom prst="rect">
            <a:avLst/>
          </a:prstGeom>
          <a:solidFill>
            <a:srgbClr val="0B2447">
              <a:alpha val="65000"/>
            </a:srgbClr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4306824"/>
            <a:ext cx="155448" cy="155448"/>
          </a:xfrm>
          <a:prstGeom prst="rect">
            <a:avLst/>
          </a:prstGeom>
          <a:solidFill>
            <a:srgbClr val="1C4E80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57216" y="4306824"/>
            <a:ext cx="155448" cy="155448"/>
          </a:xfrm>
          <a:prstGeom prst="rect">
            <a:avLst/>
          </a:prstGeom>
          <a:solidFill>
            <a:srgbClr val="22698A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30952" y="4306824"/>
            <a:ext cx="155448" cy="155448"/>
          </a:xfrm>
          <a:prstGeom prst="rect">
            <a:avLst/>
          </a:prstGeom>
          <a:solidFill>
            <a:srgbClr val="3AAED8"/>
          </a:solidFill>
          <a:ln w="12700">
            <a:solidFill>
              <a:srgbClr val="061A33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62672" y="3154680"/>
            <a:ext cx="3611880" cy="1508760"/>
          </a:xfrm>
          <a:prstGeom prst="roundRect">
            <a:avLst>
              <a:gd name="adj" fmla="val 78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9832" y="32644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Feature importance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7891272" y="4023360"/>
            <a:ext cx="272415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86572" y="3630168"/>
            <a:ext cx="272415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81872" y="3904488"/>
            <a:ext cx="272415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77172" y="3355848"/>
            <a:ext cx="272415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72472" y="3721608"/>
            <a:ext cx="272415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67772" y="3081528"/>
            <a:ext cx="272415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17A"/>
                </a:solidFill>
              </a:rPr>
              <a:t>Best model accuracy: ~85%+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703320" y="5074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B"/>
                </a:solidFill>
              </a:rPr>
              <a:t>Top predictors: PurchaseFrequency (0.829), CustomerTenure (0.099), TotalItems (0.025)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RECOMMENDATIONS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5: Recommendation Engine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Personalized product suggestions based on customer-product similarity.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691640"/>
            <a:ext cx="54864" cy="137160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84708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157984"/>
            <a:ext cx="498348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User-Based Collaborative Filtering with Cosine Similarity. Matrix: Customer × StockCode. Input: CustomerID → Output: Top 5 ranked products.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91640"/>
            <a:ext cx="54864" cy="137160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184708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 &amp; business 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2157984"/>
            <a:ext cx="47091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Precision@5 + Catalog Coverage. Expected impact: +20% CTR, +15% AOV, −10% Churn.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3520440"/>
            <a:ext cx="329184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630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Sample Customer 1: Top 5 recommendations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978408" y="4480560"/>
            <a:ext cx="243078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20368" y="4087368"/>
            <a:ext cx="243078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2328" y="4361688"/>
            <a:ext cx="243078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04288" y="3813048"/>
            <a:ext cx="243078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6248" y="4178808"/>
            <a:ext cx="243078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88208" y="3538728"/>
            <a:ext cx="243078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3520440"/>
            <a:ext cx="329184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30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Sample Customer 2: Top 5 recommendations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663440" y="4480560"/>
            <a:ext cx="243078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5400" y="4087368"/>
            <a:ext cx="243078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47360" y="4361688"/>
            <a:ext cx="243078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3813048"/>
            <a:ext cx="243078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1280" y="4178808"/>
            <a:ext cx="243078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3240" y="3538728"/>
            <a:ext cx="243078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9872" y="3520440"/>
            <a:ext cx="329184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57032" y="3630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Sample Customer 3: Top 5 recommendations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348472" y="4480560"/>
            <a:ext cx="243078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90432" y="4087368"/>
            <a:ext cx="243078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2392" y="4361688"/>
            <a:ext cx="243078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74352" y="3813048"/>
            <a:ext cx="243078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16312" y="4178808"/>
            <a:ext cx="243078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58272" y="3538728"/>
            <a:ext cx="243078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5321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D7FF"/>
                </a:solidFill>
              </a:rPr>
              <a:t>Marketing action: recommendations can be used in email campaigns, website personalization and retargeting.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SENTIMENT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6: Sentiment Analysis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Brand perception monitoring from Twitter Entity Sentiment Analysis.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627632"/>
            <a:ext cx="457200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627632"/>
            <a:ext cx="54864" cy="118872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78308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093976"/>
            <a:ext cx="42519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Clean text → TextBlob polarity scoring → Positive / Neutral / Negative classification.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1627632"/>
            <a:ext cx="155448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176479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40.4%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760720" y="22037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Neutral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60920" y="1627632"/>
            <a:ext cx="155448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76479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D17A"/>
                </a:solidFill>
              </a:rPr>
              <a:t>36.5%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498080" y="22037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Positive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98280" y="1627632"/>
            <a:ext cx="1554480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176479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B6B"/>
                </a:solidFill>
              </a:rPr>
              <a:t>23.1%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235440" y="22037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Negative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063240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1729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Sentiment distribution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1760220" y="3360420"/>
            <a:ext cx="1005840" cy="1005840"/>
          </a:xfrm>
          <a:prstGeom prst="arc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700000">
            <a:off x="1760220" y="3360420"/>
            <a:ext cx="1005840" cy="1005840"/>
          </a:xfrm>
          <a:prstGeom prst="arc">
            <a:avLst/>
          </a:prstGeom>
          <a:noFill/>
          <a:ln w="12700">
            <a:solidFill>
              <a:srgbClr val="44D1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5300000">
            <a:off x="1760220" y="3360420"/>
            <a:ext cx="1005840" cy="1005840"/>
          </a:xfrm>
          <a:prstGeom prst="arc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6512" y="3063240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3672" y="31729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Positive / Negative word clouds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4325112" y="37719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8D8"/>
                </a:solidFill>
              </a:rPr>
              <a:t>Visualization placeholder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3063240"/>
            <a:ext cx="3749040" cy="1600200"/>
          </a:xfrm>
          <a:prstGeom prst="roundRect">
            <a:avLst>
              <a:gd name="adj" fmla="val 7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Entity sentiment comparison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7726680" y="4023360"/>
            <a:ext cx="284988" cy="384048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4840" y="3630168"/>
            <a:ext cx="284988" cy="77724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63000" y="3904488"/>
            <a:ext cx="284988" cy="50292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81160" y="3355848"/>
            <a:ext cx="284988" cy="105156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99320" y="3721608"/>
            <a:ext cx="284988" cy="685800"/>
          </a:xfrm>
          <a:prstGeom prst="rect">
            <a:avLst/>
          </a:prstGeom>
          <a:solidFill>
            <a:srgbClr val="1C4E80">
              <a:alpha val="80000"/>
            </a:srgbClr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17480" y="3081528"/>
            <a:ext cx="284988" cy="13258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52578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C66"/>
                </a:solidFill>
              </a:rPr>
              <a:t>Action rule: brands with &gt;30% negative sentiment need immediate marketing intervention.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DASHBOARD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Dashboard Overview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8-page interactive dashboard designed for CMO-level decisions.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1645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764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Executive Overview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280160" y="2084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KPI cards, revenue trend, segment breakdown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36208" y="1645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764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Customer Segmentation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2084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PCA scatter, donut, bar charts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2788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Predictive Analytics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80160" y="3227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Churn by segment, feature importance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236208" y="2788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Recommendations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0" y="3227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Top products by segment, personalization metrics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58368" y="3931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Campaign Performance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0160" y="4370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Map, revenue trend, AOV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236208" y="3931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Sentiment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0" y="4370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Donut, bars, word cloud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58368" y="5074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193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Ethics &amp; Privacy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0160" y="5513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Risk register, compliance checklist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236208" y="507492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0" y="5193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Strategy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58000" y="5513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9C8D8"/>
                </a:solidFill>
              </a:rPr>
              <a:t>Top 5 recommendations, 90-day roadmap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POWER BI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Features Used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The dashboard combines mandatory visuals, interactivity and advanced analytics.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337560" cy="2834640"/>
          </a:xfrm>
          <a:prstGeom prst="roundRect">
            <a:avLst>
              <a:gd name="adj" fmla="val 38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691640"/>
            <a:ext cx="54864" cy="283464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Mandatory visuals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157984"/>
            <a:ext cx="3017520" cy="2249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KPI Cards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Line Chart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Bar Charts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Pie / Donut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Matrix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Heatmap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Scatter Chart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691640"/>
            <a:ext cx="3337560" cy="2834640"/>
          </a:xfrm>
          <a:prstGeom prst="roundRect">
            <a:avLst>
              <a:gd name="adj" fmla="val 38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691640"/>
            <a:ext cx="54864" cy="283464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Interactivity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36008" y="2157984"/>
            <a:ext cx="3017520" cy="2249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Slicers by segment, country and 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Drill-through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Bookmarks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Tooltips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Filters across all pages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1691640"/>
            <a:ext cx="3337560" cy="2834640"/>
          </a:xfrm>
          <a:prstGeom prst="roundRect">
            <a:avLst>
              <a:gd name="adj" fmla="val 38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691640"/>
            <a:ext cx="54864" cy="2834640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504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Advanced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85048" y="2157984"/>
            <a:ext cx="3017520" cy="2249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Decomposition Tree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Forecasting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Conditional Formatting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7 custom DAX measures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Churn Threshold parameter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Word Cloud custom visual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0" y="4892040"/>
            <a:ext cx="8458200" cy="777240"/>
          </a:xfrm>
          <a:prstGeom prst="roundRect">
            <a:avLst>
              <a:gd name="adj" fmla="val 1529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AED8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00176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78D7FF"/>
                </a:solidFill>
              </a:rPr>
              <a:t>Interaction flow: Filter → Explore → Predict → Recommend → Decide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057400" y="5321808"/>
            <a:ext cx="411480" cy="-155448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5166360"/>
            <a:ext cx="502920" cy="-18288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4983480"/>
            <a:ext cx="457200" cy="-27432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4709160"/>
            <a:ext cx="594360" cy="32004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5029200"/>
            <a:ext cx="594360" cy="-100584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4023360"/>
            <a:ext cx="5349240" cy="1143000"/>
          </a:xfrm>
          <a:prstGeom prst="line">
            <a:avLst/>
          </a:prstGeom>
          <a:noFill/>
          <a:ln w="12700">
            <a:solidFill>
              <a:srgbClr val="3AA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0824" y="5285232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32304" y="512978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35224" y="494690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92424" y="467258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86784" y="499262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81144" y="398678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30384" y="5129784"/>
            <a:ext cx="73152" cy="73152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ETHICS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Ethics, Privacy &amp; Risk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The system includes risk controls before business deployment.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828800"/>
            <a:ext cx="54864" cy="2331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9842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Data Privacy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295144"/>
            <a:ext cx="3017520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Risk: customer data may be used without explicit consent.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Mitigation: anonymise CustomerID and follow GDPR-style compliance principles.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82880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828800"/>
            <a:ext cx="54864" cy="2331720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9842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Model Bias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36008" y="2295144"/>
            <a:ext cx="3017520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Risk: segments may underrepresent minority customer groups or distort marketing attention.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Mitigation: run regular bias audits and compare segment coverage.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828800"/>
            <a:ext cx="54864" cy="233172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9842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Transparency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3608" y="2295144"/>
            <a:ext cx="3017520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Risk: machine-learning models can look like black boxes.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Mitigation: show feature importance and explain decision logic.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D7FF"/>
                </a:solidFill>
              </a:rPr>
              <a:t>Responsible AI principle: insight must be useful, explainable and privacy-aware.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INSIGHTS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3 Business Insights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Three findings directly translate into budget, retention and revenue actions.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69164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691640"/>
            <a:ext cx="54864" cy="3017520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Seasonal revenue spike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157984"/>
            <a:ext cx="3017520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November drives around 3× average monthly revenue.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Action: allocate 40% of marketing budget to Q4 campaigns.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69164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691640"/>
            <a:ext cx="54864" cy="301752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VIP concentration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36008" y="2157984"/>
            <a:ext cx="3017520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Top 5% customers generate a major share of revenue.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Action: launch VIP retention programme with highest-ROI perks.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69164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691640"/>
            <a:ext cx="54864" cy="301752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Churn early warning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3608" y="2157984"/>
            <a:ext cx="3017520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ML model identifies at-risk customers 30–60 days early.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Action: proactive win-back campaigns preserve revenue.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5440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4FB"/>
                </a:solidFill>
              </a:rPr>
              <a:t>Business logic: the dashboard turns AI outputs into practical marketing decisions.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STRATEGY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498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Marketing Strategy &amp; Recommendations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" y="129844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8D8"/>
                </a:solidFill>
              </a:rPr>
              <a:t>Action plan: focus budget, retain value, scale personalization.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764792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691640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B"/>
                </a:solidFill>
              </a:rPr>
              <a:t>Allocate 40% budget to Q4 campaigns — high revenue impact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075688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B"/>
                </a:solidFill>
              </a:rPr>
              <a:t>Launch VIP retention programme — reduce churn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2532888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459736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B"/>
                </a:solidFill>
              </a:rPr>
              <a:t>Expand into Germany and France — new markets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85800" y="2916936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843784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B"/>
                </a:solidFill>
              </a:rPr>
              <a:t>Deploy churn prediction model monthly — early warning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85800" y="3300984"/>
            <a:ext cx="82296" cy="82296"/>
          </a:xfrm>
          <a:prstGeom prst="ellipse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227832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B"/>
                </a:solidFill>
              </a:rPr>
              <a:t>Implement personalized recommendations — increase AOV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720840" y="1691640"/>
            <a:ext cx="452628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1691640"/>
            <a:ext cx="54864" cy="224028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1847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90-Day Roadmap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2008" y="2157984"/>
            <a:ext cx="4206240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Month 1: deploy churn model + VIP campaigns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Month 2: launch recommendation engine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Month 3: international market expansion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" y="461772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47548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AAED8"/>
                </a:solidFill>
              </a:rPr>
              <a:t>Month 1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97280" y="5193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Churn + VIP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0" y="461772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47548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D17A"/>
                </a:solidFill>
              </a:rPr>
              <a:t>Month 2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3611880" y="5193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Recommendations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89320" y="461772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47548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C66"/>
                </a:solidFill>
              </a:rPr>
              <a:t>Month 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126480" y="5193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Expansion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03920" y="461772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3648" y="47548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4D17A"/>
                </a:solidFill>
              </a:rPr>
              <a:t>3.5×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8641080" y="5193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B"/>
                </a:solidFill>
              </a:rPr>
              <a:t>12-month ROI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731520"/>
            <a:ext cx="3383280" cy="3383280"/>
          </a:xfrm>
          <a:prstGeom prst="arc">
            <a:avLst/>
          </a:prstGeom>
          <a:noFill/>
          <a:ln w="12700">
            <a:solidFill>
              <a:srgbClr val="3AA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-365760"/>
            <a:ext cx="2377440" cy="2377440"/>
          </a:xfrm>
          <a:prstGeom prst="arc">
            <a:avLst/>
          </a:prstGeom>
          <a:noFill/>
          <a:ln w="12700">
            <a:solidFill>
              <a:srgbClr val="1C4E8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320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42448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AITU LOGO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D7FF"/>
                </a:solidFill>
              </a:rPr>
              <a:t>We are ready for your questions.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54680"/>
            <a:ext cx="54864" cy="1417320"/>
          </a:xfrm>
          <a:prstGeom prst="rect">
            <a:avLst/>
          </a:prstGeom>
          <a:solidFill>
            <a:srgbClr val="3AAED8"/>
          </a:solidFill>
          <a:ln w="12700">
            <a:solidFill>
              <a:srgbClr val="3AA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3101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 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621024"/>
            <a:ext cx="480060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Online Retail Transactions — Kaggle: vijayuv/onlineretail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Twitter Entity Sentiment Analysis — Kaggle: jp797498e/twitter-entity-sentiment-analysis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3154680"/>
            <a:ext cx="4800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154680"/>
            <a:ext cx="54864" cy="1417320"/>
          </a:xfrm>
          <a:prstGeom prst="rect">
            <a:avLst/>
          </a:prstGeom>
          <a:solidFill>
            <a:srgbClr val="44D17A"/>
          </a:solidFill>
          <a:ln w="12700">
            <a:solidFill>
              <a:srgbClr val="44D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33101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 &amp; contact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64808" y="3621024"/>
            <a:ext cx="44805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GitHub repository link: add final URL before submission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C8D8"/>
                </a:solidFill>
              </a:rPr>
              <a:t>Contact: Tair Asset &amp; Alinur Sabit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B"/>
                </a:solidFill>
              </a:rPr>
              <a:t>AI Marketing Intelligence System  |  Final Exam Project — AI for Marketing Decisions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FFFFFF">
                <a:alpha val="17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9C8D8"/>
                </a:solidFill>
              </a:rPr>
              <a:t>AI Marketing Intelligence System  |  Astana IT University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292840" y="64648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8D7F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Astana IT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Marketing Intelligence System</dc:title>
  <dc:subject>AI Marketing Intelligence System Final Exam Project</dc:subject>
  <dc:creator>OpenAI</dc:creator>
  <cp:lastModifiedBy>OpenAI</cp:lastModifiedBy>
  <cp:revision>1</cp:revision>
  <dcterms:created xsi:type="dcterms:W3CDTF">2026-05-28T21:49:47Z</dcterms:created>
  <dcterms:modified xsi:type="dcterms:W3CDTF">2026-05-28T21:49:47Z</dcterms:modified>
</cp:coreProperties>
</file>